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70" d="100"/>
          <a:sy n="170" d="100"/>
        </p:scale>
        <p:origin x="50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905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5A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594360" y="109728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NFT 경매 시스템 개발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594360" y="22860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Ethereum + Geth + Truffle + Web3.js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94360" y="29260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AE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프라이빗 이더리움 네트워크 기반 NFT 경매 DApp 구현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94360" y="44805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2026. 06. 06</a:t>
            </a:r>
            <a:endParaRPr lang="en-US" sz="13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E8C4814-B53F-1803-1AB9-FDD619B52CE8}"/>
              </a:ext>
            </a:extLst>
          </p:cNvPr>
          <p:cNvSpPr txBox="1"/>
          <p:nvPr/>
        </p:nvSpPr>
        <p:spPr>
          <a:xfrm>
            <a:off x="3043002" y="3627620"/>
            <a:ext cx="22635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dirty="0"/>
              <a:t>202035106</a:t>
            </a:r>
            <a:r>
              <a:rPr kumimoji="1" lang="ko-KR" altLang="en-US" dirty="0"/>
              <a:t> 권기범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AF4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시스템 구성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84124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5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228600" cy="109728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640080" y="11430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13716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2E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Frontend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171907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+ Web3.js + MetaMask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937760" y="137160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사용자 인터페이스 / 지갑 연결 / 트랜잭션 서명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2377440"/>
            <a:ext cx="84124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5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365760" y="2377440"/>
            <a:ext cx="228600" cy="109728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640080" y="242316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0080" y="26517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2E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Smart Contract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40080" y="299923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NFT.sol + Auction.sol (Solidity 0.8.19)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937760" y="265176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비즈니스 로직 / NFT 발행 / 경매 처리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" y="3657600"/>
            <a:ext cx="84124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5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365760" y="3657600"/>
            <a:ext cx="228600" cy="10972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640080" y="37033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40080" y="39319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2E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Ethereum Network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40080" y="427939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Geth v1.10  |  Chain ID: 1004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937760" y="393192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Node1 (8545) 관리자   |   Node2 (8546) 판매자·구매자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389120" y="2194560"/>
            <a:ext cx="0" cy="18288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4389120" y="3474720"/>
            <a:ext cx="0" cy="18288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AF4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개발 순서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841248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5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1005840" cy="111556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365760" y="132588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2C39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508760" y="114300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2E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이더리움 네트워크 구축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675120" y="11430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go_ether/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508760" y="1581912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Genesis 설정 → 노드 초기화 → 계정 생성 → 마이닝 시작 → 피어 연결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2350008"/>
            <a:ext cx="841248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5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365760" y="2350008"/>
            <a:ext cx="1005840" cy="111556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365760" y="2624328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2C39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1508760" y="2441448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2E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스마트 컨트랙트 개발 및 배포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675120" y="244144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truffle/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508760" y="2880360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컨트랙트 작성(NFT.sol, Auction.sol) → 컴파일 → Node1에 배포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" y="3648456"/>
            <a:ext cx="841248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5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365760" y="3648456"/>
            <a:ext cx="1005840" cy="111556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365760" y="3922776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2C39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1508760" y="3739896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2E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프론트엔드 개발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6675120" y="3739896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frontend/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508760" y="4178808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Web3.js 연동 → MetaMask 연결 → 경매 UI 구현 → http-server 구동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65760" y="466344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각 단계는 이전 단계에 직접 의존 — 순서를 반드시 준수해야 합니다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AF4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1단계 – Geth 네트워크 구성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2011680" cy="64008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365760" y="100584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Chain ID : 1004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65760" y="1828800"/>
            <a:ext cx="411480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5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365760" y="1828800"/>
            <a:ext cx="4114800" cy="5029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502920" y="187452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Node 1  (포트 8545)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02920" y="242316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관리자 계정 전용  ·  컨트랙트 배포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29718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계정 주소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3246120"/>
            <a:ext cx="3840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0xd30d5a2ac6993c714d2a6c59b4be763dbab4dd2a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663440" y="1828800"/>
            <a:ext cx="411480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5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4663440" y="1828800"/>
            <a:ext cx="4114800" cy="5029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4800600" y="187452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Node 2  (포트 8546)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800600" y="242316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판매자 · 구매자 계정  ·  프론트엔드 연결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00600" y="29718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계정 주소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00600" y="3246120"/>
            <a:ext cx="3840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0xe6812126e42b788ac514c11a608e8aea5a8aaba5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0x772fec64fc02614922c9dcfbaf7b0e5eed293e48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480560" y="3337560"/>
            <a:ext cx="182880" cy="0"/>
          </a:xfrm>
          <a:prstGeom prst="line">
            <a:avLst/>
          </a:prstGeom>
          <a:noFill/>
          <a:ln w="3175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3200400" y="10515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Peer 연결 →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AF4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2단계 – 스마트 컨트랙트 설계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4206240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5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4206240" cy="5486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502920" y="103327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NFT.sol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2834640" y="1078992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ERC-721 기반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1691640"/>
            <a:ext cx="3840480" cy="658368"/>
          </a:xfrm>
          <a:prstGeom prst="rect">
            <a:avLst/>
          </a:prstGeom>
          <a:solidFill>
            <a:srgbClr val="EAF4FB"/>
          </a:solidFill>
          <a:ln w="12700">
            <a:solidFill>
              <a:srgbClr val="D0E8F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685800" y="172821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mint(to, uri)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85800" y="20116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NFT 발행 → Token ID 반환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2468880"/>
            <a:ext cx="3840480" cy="658368"/>
          </a:xfrm>
          <a:prstGeom prst="rect">
            <a:avLst/>
          </a:prstGeom>
          <a:solidFill>
            <a:srgbClr val="EAF4FB"/>
          </a:solidFill>
          <a:ln w="12700">
            <a:solidFill>
              <a:srgbClr val="D0E8F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685800" y="250545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approve(to, tokenId)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85800" y="27889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경매 컨트랙트에 사용 권한 부여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246120"/>
            <a:ext cx="3840480" cy="658368"/>
          </a:xfrm>
          <a:prstGeom prst="rect">
            <a:avLst/>
          </a:prstGeom>
          <a:solidFill>
            <a:srgbClr val="EAF4FB"/>
          </a:solidFill>
          <a:ln w="12700">
            <a:solidFill>
              <a:srgbClr val="D0E8F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685800" y="328269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transferFrom(from, to, tokenId)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85800" y="35661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NFT 소유권 이전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54880" y="1005840"/>
            <a:ext cx="4206240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5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4754880" y="1005840"/>
            <a:ext cx="4206240" cy="5486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4892040" y="103327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Auction.sol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7223760" y="1078992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경매 로직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937760" y="1691640"/>
            <a:ext cx="3840480" cy="658368"/>
          </a:xfrm>
          <a:prstGeom prst="rect">
            <a:avLst/>
          </a:prstGeom>
          <a:solidFill>
            <a:srgbClr val="EAF4FB"/>
          </a:solidFill>
          <a:ln w="12700">
            <a:solidFill>
              <a:srgbClr val="D0E8F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5074920" y="172821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createAuction(tokenId, price, dur)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074920" y="20116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경매 등록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937760" y="2468880"/>
            <a:ext cx="3840480" cy="658368"/>
          </a:xfrm>
          <a:prstGeom prst="rect">
            <a:avLst/>
          </a:prstGeom>
          <a:solidFill>
            <a:srgbClr val="EAF4FB"/>
          </a:solidFill>
          <a:ln w="12700">
            <a:solidFill>
              <a:srgbClr val="D0E8F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5074920" y="250545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bid(auctionId)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074920" y="27889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입찰  (ETH payable)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937760" y="3246120"/>
            <a:ext cx="3840480" cy="658368"/>
          </a:xfrm>
          <a:prstGeom prst="rect">
            <a:avLst/>
          </a:prstGeom>
          <a:solidFill>
            <a:srgbClr val="EAF4FB"/>
          </a:solidFill>
          <a:ln w="12700">
            <a:solidFill>
              <a:srgbClr val="D0E8F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/>
          <p:nvPr/>
        </p:nvSpPr>
        <p:spPr>
          <a:xfrm>
            <a:off x="5074920" y="328269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endAuction(auctionId)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074920" y="35661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낙찰 처리 (NFT → 구매자, ETH → 판매자)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937760" y="4023360"/>
            <a:ext cx="3840480" cy="658368"/>
          </a:xfrm>
          <a:prstGeom prst="rect">
            <a:avLst/>
          </a:prstGeom>
          <a:solidFill>
            <a:srgbClr val="EAF4FB"/>
          </a:solidFill>
          <a:ln w="12700">
            <a:solidFill>
              <a:srgbClr val="D0E8F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9"/>
          <p:cNvSpPr/>
          <p:nvPr/>
        </p:nvSpPr>
        <p:spPr>
          <a:xfrm>
            <a:off x="5074920" y="405993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withdraw(auctionId)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5074920" y="43434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환불  (낙찰 실패 입찰자)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AF4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2단계 – Truffle 배포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5A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배포 순서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2651760" cy="6858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457200" y="1444752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NFT.sol 컴파일 및 배포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017520" y="1764792"/>
            <a:ext cx="228600" cy="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3246120" y="1417320"/>
            <a:ext cx="2651760" cy="6858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3337560" y="1444752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NFT 주소를 인자로 Auction.sol 배포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897880" y="1764792"/>
            <a:ext cx="228600" cy="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6126480" y="1417320"/>
            <a:ext cx="2651760" cy="6858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6217920" y="1444752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배포 결과 ABI + 주소 → Frontend에서 사용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57200" y="23317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5A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배포 결과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65760" y="2788920"/>
            <a:ext cx="84124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5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365760" y="2788920"/>
            <a:ext cx="182880" cy="74980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640080" y="282549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E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NFT 컨트랙트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0080" y="317296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0x4AA3f6B8545b9AFdF753CAcC13e5a03f5D7D25A0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858000" y="282549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1,106,915 gas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3703320"/>
            <a:ext cx="84124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5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365760" y="3703320"/>
            <a:ext cx="182880" cy="74980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640080" y="373989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E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Auction 컨트랙트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40080" y="408736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0x34D6CB19d1707a4036323dd190485c87D8DE792b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858000" y="373989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1,361,947 gas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65760" y="470916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총 배포 비용: 0.002468862 ETH  |  배포 계정: Node1 관리자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AF4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3단계 – 프론트엔드 구성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1920240" cy="4114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365760" y="100584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Web3.js 1.10.0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468880" y="1005840"/>
            <a:ext cx="1920240" cy="4114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2468880" y="100584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MetaMask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0" y="1005840"/>
            <a:ext cx="1920240" cy="4114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4572000" y="100584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HTML5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675120" y="1005840"/>
            <a:ext cx="1920240" cy="4114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6675120" y="100584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http-server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1554480"/>
            <a:ext cx="26517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5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365760" y="1554480"/>
            <a:ext cx="548640" cy="14173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365760" y="201168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①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005840" y="1664208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E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지갑 연결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05840" y="2084832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MetaMask 연결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Node2 네트워크 자동 전환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00400" y="1554480"/>
            <a:ext cx="26517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5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3200400" y="1554480"/>
            <a:ext cx="548640" cy="14173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3200400" y="201168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②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3840480" y="1664208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E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NFT 발행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840480" y="2084832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mint(to, uri)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판매자 계정으로 호출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035040" y="1554480"/>
            <a:ext cx="26517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5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6035040" y="1554480"/>
            <a:ext cx="548640" cy="14173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6035040" y="201168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③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6675120" y="1664208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E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경매 등록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675120" y="2084832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→ createAuction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순서 중요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154680"/>
            <a:ext cx="26517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5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6"/>
          <p:cNvSpPr/>
          <p:nvPr/>
        </p:nvSpPr>
        <p:spPr>
          <a:xfrm>
            <a:off x="365760" y="3154680"/>
            <a:ext cx="548640" cy="14173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/>
          <p:nvPr/>
        </p:nvSpPr>
        <p:spPr>
          <a:xfrm>
            <a:off x="365760" y="361188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④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1005840" y="3264408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E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입찰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1005840" y="3685032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bid(auctionId)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구매자 ETH 전송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200400" y="3154680"/>
            <a:ext cx="26517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5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3" name="Shape 31"/>
          <p:cNvSpPr/>
          <p:nvPr/>
        </p:nvSpPr>
        <p:spPr>
          <a:xfrm>
            <a:off x="3200400" y="3154680"/>
            <a:ext cx="548640" cy="14173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2"/>
          <p:cNvSpPr/>
          <p:nvPr/>
        </p:nvSpPr>
        <p:spPr>
          <a:xfrm>
            <a:off x="3200400" y="361188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⑤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3840480" y="3264408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E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경매 종료/환불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3840480" y="3685032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endAuction / withdraw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누구든 호출 가능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035040" y="3154680"/>
            <a:ext cx="26517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5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8" name="Shape 36"/>
          <p:cNvSpPr/>
          <p:nvPr/>
        </p:nvSpPr>
        <p:spPr>
          <a:xfrm>
            <a:off x="6035040" y="3154680"/>
            <a:ext cx="548640" cy="14173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Text 37"/>
          <p:cNvSpPr/>
          <p:nvPr/>
        </p:nvSpPr>
        <p:spPr>
          <a:xfrm>
            <a:off x="6035040" y="361188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⑥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6675120" y="3264408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E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경매 정보 조회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6675120" y="3685032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읽기 전용 call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지갑 없이도 조회 가능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AF4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경매 진행 흐름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27432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5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2743200" cy="43891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365760" y="10515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  NFT 발행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194560" y="105156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판매자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155448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mint(to, uri)  →  Token ID 획득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017520" y="1828800"/>
            <a:ext cx="228600" cy="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3246120" y="1005840"/>
            <a:ext cx="27432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5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3246120" y="1005840"/>
            <a:ext cx="2743200" cy="43891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3337560" y="10515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  NFT 승인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166360" y="105156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판매자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337560" y="155448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approve(AuctionAddr, tokenId)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989320" y="1828800"/>
            <a:ext cx="228600" cy="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6217920" y="1005840"/>
            <a:ext cx="27432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5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6217920" y="1005840"/>
            <a:ext cx="2743200" cy="43891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6309360" y="10515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  경매 등록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138160" y="105156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판매자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309360" y="155448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createAuction(tokenId, price, dur)  →  Auction ID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274320" y="2926080"/>
            <a:ext cx="27432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5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274320" y="2926080"/>
            <a:ext cx="2743200" cy="43891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365760" y="29718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  입찰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2194560" y="297180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구매자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65760" y="347472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bid(auctionId)  +  ETH 전송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3017520" y="3749040"/>
            <a:ext cx="228600" cy="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5"/>
          <p:cNvSpPr/>
          <p:nvPr/>
        </p:nvSpPr>
        <p:spPr>
          <a:xfrm>
            <a:off x="3246120" y="2926080"/>
            <a:ext cx="27432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5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6"/>
          <p:cNvSpPr/>
          <p:nvPr/>
        </p:nvSpPr>
        <p:spPr>
          <a:xfrm>
            <a:off x="3246120" y="2926080"/>
            <a:ext cx="2743200" cy="43891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/>
          <p:nvPr/>
        </p:nvSpPr>
        <p:spPr>
          <a:xfrm>
            <a:off x="3337560" y="29718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  경매 종료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166360" y="297180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누구든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337560" y="347472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endAuction()  →  NFT→낙찰자 / ETH→판매자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5989320" y="3749040"/>
            <a:ext cx="228600" cy="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Shape 31"/>
          <p:cNvSpPr/>
          <p:nvPr/>
        </p:nvSpPr>
        <p:spPr>
          <a:xfrm>
            <a:off x="6217920" y="2926080"/>
            <a:ext cx="27432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5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4" name="Shape 32"/>
          <p:cNvSpPr/>
          <p:nvPr/>
        </p:nvSpPr>
        <p:spPr>
          <a:xfrm>
            <a:off x="6217920" y="2926080"/>
            <a:ext cx="2743200" cy="438912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3"/>
          <p:cNvSpPr/>
          <p:nvPr/>
        </p:nvSpPr>
        <p:spPr>
          <a:xfrm>
            <a:off x="6309360" y="29718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  환불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8138160" y="297180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입찰자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309360" y="347472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withdraw()  →  패자 ETH 반환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AF4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주요 트러블슈팅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74320" y="987552"/>
            <a:ext cx="859536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5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274320" y="987552"/>
            <a:ext cx="411480" cy="6858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274320" y="1152144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77240" y="1042416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E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truffle 명령어 인식 불가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77240" y="137160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원인: nvm 버전 미활성화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069080" y="1325880"/>
            <a:ext cx="0" cy="137160"/>
          </a:xfrm>
          <a:prstGeom prst="line">
            <a:avLst/>
          </a:prstGeom>
          <a:noFill/>
          <a:ln w="1905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4206240" y="1042416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해결: nvm use 18.17.1 &amp;&amp; hash -r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4320" y="1792224"/>
            <a:ext cx="859536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5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274320" y="1792224"/>
            <a:ext cx="411480" cy="6858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274320" y="1956816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77240" y="184708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E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Block gas limit 초과 배포 실패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77240" y="217627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원인: gas(6721975) &gt; 블록 한도(4013330)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069080" y="2130552"/>
            <a:ext cx="0" cy="137160"/>
          </a:xfrm>
          <a:prstGeom prst="line">
            <a:avLst/>
          </a:prstGeom>
          <a:noFill/>
          <a:ln w="1905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4206240" y="1847088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해결: truffle-config.js  gas: 3900000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74320" y="2596896"/>
            <a:ext cx="859536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5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274320" y="2596896"/>
            <a:ext cx="411480" cy="6858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274320" y="2761488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77240" y="26517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E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EIP-1559 트랜잭션 오류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77240" y="298094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원인: Geth 1.10 EIP-1559 미지원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069080" y="2935224"/>
            <a:ext cx="0" cy="137160"/>
          </a:xfrm>
          <a:prstGeom prst="line">
            <a:avLst/>
          </a:prstGeom>
          <a:noFill/>
          <a:ln w="1905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4206240" y="265176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해결: send()에 gasPrice: "1000000000" 추가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74320" y="3401568"/>
            <a:ext cx="859536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5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4"/>
          <p:cNvSpPr/>
          <p:nvPr/>
        </p:nvSpPr>
        <p:spPr>
          <a:xfrm>
            <a:off x="274320" y="3401568"/>
            <a:ext cx="411480" cy="6858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274320" y="356616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77240" y="345643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E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MetaMask 잘못된 네트워크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777240" y="3785616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원인: Ethereum 메인넷으로 전송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069080" y="3739896"/>
            <a:ext cx="0" cy="137160"/>
          </a:xfrm>
          <a:prstGeom prst="line">
            <a:avLst/>
          </a:prstGeom>
          <a:noFill/>
          <a:ln w="1905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9"/>
          <p:cNvSpPr/>
          <p:nvPr/>
        </p:nvSpPr>
        <p:spPr>
          <a:xfrm>
            <a:off x="4206240" y="3456432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해결: wallet_switchEthereumChain으로 자동 전환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274320" y="4206240"/>
            <a:ext cx="859536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5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3" name="Shape 31"/>
          <p:cNvSpPr/>
          <p:nvPr/>
        </p:nvSpPr>
        <p:spPr>
          <a:xfrm>
            <a:off x="274320" y="4206240"/>
            <a:ext cx="411480" cy="6858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2"/>
          <p:cNvSpPr/>
          <p:nvPr/>
        </p:nvSpPr>
        <p:spPr>
          <a:xfrm>
            <a:off x="274320" y="4370832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777240" y="4261104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E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경매 종료 EVM Revert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777240" y="459028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원인: 경매 시간(300초) 미경과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4069080" y="4544568"/>
            <a:ext cx="0" cy="137160"/>
          </a:xfrm>
          <a:prstGeom prst="line">
            <a:avLst/>
          </a:prstGeom>
          <a:noFill/>
          <a:ln w="1905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6"/>
          <p:cNvSpPr/>
          <p:nvPr/>
        </p:nvSpPr>
        <p:spPr>
          <a:xfrm>
            <a:off x="4206240" y="4261104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해결: 경매 종료 시각 이후에 endAuction 호출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65A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548640" y="2286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결론 및 개선 방향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48640" y="10972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C39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구현 완료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150876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프라이빗 이더리움 네트워크 (2노드 피어 연결)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892808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ERC-721 기반 NFT 컨트랙트 (mint / approve / transfer)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2276856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경매 스마트 컨트랙트 (입찰 / 낙찰 / 환불)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2660904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Web3.js 기반 HTML 프론트엔드 + MetaMask 연동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846320" y="10972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A0D8E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향후 개선 방향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846320" y="150876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E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IPFS 연동으로 NFT 이미지·메타데이터 저장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46320" y="1892808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E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다수 입찰자 동시 처리 및 이벤트 실시간 반영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46320" y="2276856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E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경매 목록 / NFT 갤러리 UI 고도화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46320" y="2660904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E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테스트넷(Sepolia) 배포로 확장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8640" y="44348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감사합니다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724</Words>
  <Application>Microsoft Macintosh PowerPoint</Application>
  <PresentationFormat>화면 슬라이드 쇼(16:9)</PresentationFormat>
  <Paragraphs>167</Paragraphs>
  <Slides>10</Slides>
  <Notes>10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5" baseType="lpstr">
      <vt:lpstr>Arial</vt:lpstr>
      <vt:lpstr>Arial Black</vt:lpstr>
      <vt:lpstr>Calibri</vt:lpstr>
      <vt:lpstr>Consolas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NFT 경매 시스템 개발</dc:title>
  <dc:subject>PptxGenJS Presentation</dc:subject>
  <dc:creator>PptxGenJS</dc:creator>
  <cp:lastModifiedBy>기범 권</cp:lastModifiedBy>
  <cp:revision>2</cp:revision>
  <dcterms:created xsi:type="dcterms:W3CDTF">2026-06-06T01:28:44Z</dcterms:created>
  <dcterms:modified xsi:type="dcterms:W3CDTF">2026-06-06T01:30:16Z</dcterms:modified>
</cp:coreProperties>
</file>